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Top 10 categories by revenue (R$M)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(R$M)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health_beauty</c:v>
                  </c:pt>
                  <c:pt idx="1">
                    <c:v>watches_gifts</c:v>
                  </c:pt>
                  <c:pt idx="2">
                    <c:v>bed_bath_table</c:v>
                  </c:pt>
                  <c:pt idx="3">
                    <c:v>sports_leisure</c:v>
                  </c:pt>
                  <c:pt idx="4">
                    <c:v>computers_acc.</c:v>
                  </c:pt>
                  <c:pt idx="5">
                    <c:v>furniture_decor</c:v>
                  </c:pt>
                  <c:pt idx="6">
                    <c:v>cool_stuff</c:v>
                  </c:pt>
                  <c:pt idx="7">
                    <c:v>housewares</c:v>
                  </c:pt>
                  <c:pt idx="8">
                    <c:v>auto</c:v>
                  </c:pt>
                  <c:pt idx="9">
                    <c:v>garden_tools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1.26</c:v>
                </c:pt>
                <c:pt idx="1">
                  <c:v>1.21</c:v>
                </c:pt>
                <c:pt idx="2">
                  <c:v>1.04</c:v>
                </c:pt>
                <c:pt idx="3">
                  <c:v>0.99</c:v>
                </c:pt>
                <c:pt idx="4">
                  <c:v>0.91</c:v>
                </c:pt>
                <c:pt idx="5">
                  <c:v>0.73</c:v>
                </c:pt>
                <c:pt idx="6">
                  <c:v>0.64</c:v>
                </c:pt>
                <c:pt idx="7">
                  <c:v>0.63</c:v>
                </c:pt>
                <c:pt idx="8">
                  <c:v>0.59</c:v>
                </c:pt>
                <c:pt idx="9">
                  <c:v>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F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F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Payment method share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F6E56"/>
              </a:solidFill>
              <a:effectLst/>
            </c:spPr>
          </c:dPt>
          <c:dPt>
            <c:idx val="2"/>
            <c:bubble3D val="0"/>
            <c:spPr>
              <a:solidFill>
                <a:srgbClr val="D85A30"/>
              </a:solidFill>
              <a:effectLst/>
            </c:spPr>
          </c:dPt>
          <c:dPt>
            <c:idx val="3"/>
            <c:bubble3D val="0"/>
            <c:spPr>
              <a:solidFill>
                <a:srgbClr val="B4B2A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Boleto</c:v>
                </c:pt>
                <c:pt idx="2">
                  <c:v>Debit card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78</c:v>
                </c:pt>
                <c:pt idx="1">
                  <c:v>18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F8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6204D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620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 INTELLIGENCE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Customer Analytics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SQL analytics project on the Olist Brazilian e-commerce dataset — from raw data to a decision-ready Power BI dashboard.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385316" cy="384048"/>
          </a:xfrm>
          <a:prstGeom prst="roundRect">
            <a:avLst>
              <a:gd name="adj" fmla="val 50000"/>
            </a:avLst>
          </a:prstGeom>
          <a:solidFill>
            <a:srgbClr val="16204D"/>
          </a:solidFill>
          <a:ln w="9525">
            <a:solidFill>
              <a:srgbClr val="3C34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06240"/>
            <a:ext cx="1385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2868" y="420624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16204D"/>
          </a:solidFill>
          <a:ln w="9525">
            <a:solidFill>
              <a:srgbClr val="3C3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2868" y="420624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88436" y="4206240"/>
            <a:ext cx="2167128" cy="384048"/>
          </a:xfrm>
          <a:prstGeom prst="roundRect">
            <a:avLst>
              <a:gd name="adj" fmla="val 50000"/>
            </a:avLst>
          </a:prstGeom>
          <a:solidFill>
            <a:srgbClr val="16204D"/>
          </a:solidFill>
          <a:ln w="9525">
            <a:solidFill>
              <a:srgbClr val="3C34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8436" y="4206240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Business Questions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20156" y="4206240"/>
            <a:ext cx="1906524" cy="384048"/>
          </a:xfrm>
          <a:prstGeom prst="roundRect">
            <a:avLst>
              <a:gd name="adj" fmla="val 50000"/>
            </a:avLst>
          </a:prstGeom>
          <a:solidFill>
            <a:srgbClr val="16204D"/>
          </a:solidFill>
          <a:ln w="9525">
            <a:solidFill>
              <a:srgbClr val="3C34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0156" y="4206240"/>
            <a:ext cx="1906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Normalized Tables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91272" y="4206240"/>
            <a:ext cx="1732788" cy="384048"/>
          </a:xfrm>
          <a:prstGeom prst="roundRect">
            <a:avLst>
              <a:gd name="adj" fmla="val 50000"/>
            </a:avLst>
          </a:prstGeom>
          <a:solidFill>
            <a:srgbClr val="16204D"/>
          </a:solidFill>
          <a:ln w="9525">
            <a:solidFill>
              <a:srgbClr val="3C34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4206240"/>
            <a:ext cx="17327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Analytics Views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Ravindra Vaidya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Engineering, IIT (ISM) Dhanbad  |  Data Analytics Portfolio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100K+ raw e-commerce records into an analytics-ready decision layer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analytics pipeline on Olist's Brazilian e-commerce dataset — from schema design through data-quality validation, SQL-based business analysis, and a Power BI reporting layer — to answer real revenue, customer, and operations questions.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relational tables, 35+ business questions across revenue, sellers, customers and logistics, 6 production-style analytics views, and a 7-page interactive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41732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6263640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R$16.01M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263640" y="2834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analyzed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98280" y="141732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E6F1FB"/>
          </a:solidFill>
          <a:ln/>
        </p:spPr>
      </p:sp>
      <p:sp>
        <p:nvSpPr>
          <p:cNvPr id="9" name="Text 7"/>
          <p:cNvSpPr/>
          <p:nvPr/>
        </p:nvSpPr>
        <p:spPr>
          <a:xfrm>
            <a:off x="9098280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098280" y="2834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36118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AECE7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39319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3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5029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98280" y="36118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E1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39319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98280" y="5029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 rate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 to a decision-ready dashboard, in five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6002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600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(Kaggle)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33472" y="16002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89504" y="16002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600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55464" y="16002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11496" y="16002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111496" y="1600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77456" y="16002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33488" y="16002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0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7333488" y="1600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(35Q)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99448" y="16002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55480" y="16002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555480" y="1600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PostgreSQL 18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38404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normalized tables with primary/foreign keys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window functions (RANK, ROW_NUMBER, NTILE, LAG)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reusable analytics views for reporting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null, duplicate and range checks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306324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Power BI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38404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7-page interactive dashboard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sellers, customers, payments, reviews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slicers and drill-through order details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visuals: tornado, radar, timeline charts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9 normalized tables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Star-like schema linking orders, customers, sellers, products and payments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56232"/>
            <a:ext cx="128016" cy="128016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64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id, unique id, city, state, zip prefix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856232"/>
            <a:ext cx="128016" cy="128016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764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and full purchase-to-delivery timestamps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856232"/>
            <a:ext cx="128016" cy="128016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1764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items: product, seller, price, freight 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502152"/>
            <a:ext cx="128016" cy="128016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4107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840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dimensions, weight, photo count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2461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502152"/>
            <a:ext cx="128016" cy="128016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4107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63440" y="3840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id, city, state, zip prefix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2461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3502152"/>
            <a:ext cx="128016" cy="128016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26" name="Text 24"/>
          <p:cNvSpPr/>
          <p:nvPr/>
        </p:nvSpPr>
        <p:spPr>
          <a:xfrm>
            <a:off x="8732520" y="34107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03920" y="3840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type, installments, value per order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148072"/>
            <a:ext cx="128016" cy="128016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5056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2960" y="54864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score, comments, response timestamps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4892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5148072"/>
            <a:ext cx="128016" cy="128016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5056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geolocation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663440" y="54864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Lat/lng by zip code prefix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4892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5148072"/>
            <a:ext cx="128016" cy="128016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38" name="Text 36"/>
          <p:cNvSpPr/>
          <p:nvPr/>
        </p:nvSpPr>
        <p:spPr>
          <a:xfrm>
            <a:off x="8732520" y="5056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category_translation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503920" y="54864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to EN product category mapping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governance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validated before a single business question was asked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confirmed across all 9 tables before analysis began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scan on category, weight, dimension and delivery-date fields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primary key checks on customers, orders, products and reviews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time span confirmed (first order to last order)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distribution profiled to isolate delivered vs. cancelled orders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 by state validated for geographic coverage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52360" y="1508760"/>
            <a:ext cx="4160520" cy="466344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228600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data-quality checks is the fastest way to produce confident-looking, wrong numbers. This phase caught null delivery dates, category gaps and duplicate keys before they could distort revenue and delivery-time calculations downstream.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KPI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numbers behind the full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606040" cy="73152"/>
          </a:xfrm>
          <a:prstGeom prst="round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R$16.01M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737360"/>
            <a:ext cx="2606040" cy="73152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R$120.76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3108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37360"/>
            <a:ext cx="2606040" cy="73152"/>
          </a:xfrm>
          <a:prstGeom prst="roundRect">
            <a:avLst/>
          </a:prstGeom>
          <a:solidFill>
            <a:srgbClr val="0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3,095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3108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sellers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737360"/>
            <a:ext cx="2606040" cy="73152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R$4,332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52560" y="3108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per seller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the executive-summary and seller-overview analytics views (vw_executive_summary, vw_state_performance) built in the SQL layer — not hand-computed, so every number in the dashboard traces back to a query.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 and payment behavior across 110K orders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492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7223760" y="1417320"/>
          <a:ext cx="4434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223760" y="434340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 — Sao Paulo (SP)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R$5.13M in sales, ~40% of all revenue — the single largest concentration in the dataset.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— window functions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techniques used to move beyond simple aggregation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— Top products per category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993392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16204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3911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 OVER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 BY category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products_sold DESC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ranking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every product within its own category so the top 3 sellers per category can be isolated in one pass.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46304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/ DENSE_RANK() — Seller leaderboard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1993392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16204D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03911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 OVER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revenue DESC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seller_rank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29718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all 3,095 sellers by revenue, comparing RANK (with gaps) against DENSE_RANK (no gaps) for tied values.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OVER(ORDER BY) — Running revenue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370832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16204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1655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SUM(revenue) OVER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cumulative_revenue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running monthly total without a self-join, powering the cumulative-growth view of the business.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38404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OVER() — Revenue contribution %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4370832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16204D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41655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* revenue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SUM(revenue) OVER 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contribution_pct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53492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Expresses each category's revenue as a share of total revenue in a single query, no post-processing needed.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 — RFM &amp; segmentation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transaction history into actionable customer groups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metrics computed per customer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MAX(order_purchase_timestamp)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8775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86000" y="25877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COUNT(order_id)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009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86000" y="330098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SUM(payment_value)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segments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63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R$100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38528" y="457200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E6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1938528" y="4663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value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38528" y="5029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R$100 – 500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28416" y="457200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/>
        </p:spPr>
      </p:sp>
      <p:sp>
        <p:nvSpPr>
          <p:cNvPr id="22" name="Text 20"/>
          <p:cNvSpPr/>
          <p:nvPr/>
        </p:nvSpPr>
        <p:spPr>
          <a:xfrm>
            <a:off x="3328416" y="4663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28416" y="5029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R$500 – 1,000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18304" y="457200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BEAF0"/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4663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18304" y="5029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R$1,000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141732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customer-level analysis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219456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vs. one-time customers, using customer_unique_id to correct for re-registered accounts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customers isolated with NTILE(100) for a targeted retention list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(CLV) per unique customer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orders per customer and full order-count distribution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ranked by share of repeat customers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&amp; review correlation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logistics speed to customer satisfaction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29184" cy="329184"/>
          </a:xfrm>
          <a:prstGeom prst="ellipse">
            <a:avLst/>
          </a:prstGeom>
          <a:solidFill>
            <a:srgbClr val="FAECE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/ slowest delivery states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days computed per customer state to flag logistics bottlenecks by geography.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28800"/>
            <a:ext cx="329184" cy="329184"/>
          </a:xfrm>
          <a:prstGeom prst="ellipse">
            <a:avLst/>
          </a:prstGeom>
          <a:solidFill>
            <a:srgbClr val="FAECE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vs. review score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duration grouped by review score (1–5) to test whether slower delivery drives lower ratings.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77640"/>
            <a:ext cx="329184" cy="329184"/>
          </a:xfrm>
          <a:prstGeom prst="ellipse">
            <a:avLst/>
          </a:prstGeom>
          <a:solidFill>
            <a:srgbClr val="FAECE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931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weekday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order volume broken down by day of week to spot purchasing rhythm.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977640"/>
            <a:ext cx="329184" cy="329184"/>
          </a:xfrm>
          <a:prstGeom prst="ellipse">
            <a:avLst/>
          </a:prstGeom>
          <a:solidFill>
            <a:srgbClr val="FAECE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3931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hour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4526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Purchase-hour distribution used to identify peak ordering windows across the day.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walkthrough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 brought to life across five focused pages</a:t>
            </a:r>
            <a:endParaRPr lang="en-US" sz="1300" dirty="0"/>
          </a:p>
        </p:txBody>
      </p:sp>
      <p:pic>
        <p:nvPicPr>
          <p:cNvPr id="4" name="Image 0" descr="images/dash_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76072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526280"/>
            <a:ext cx="576072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52628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1200" dirty="0"/>
          </a:p>
        </p:txBody>
      </p:sp>
      <p:pic>
        <p:nvPicPr>
          <p:cNvPr id="7" name="Image 1" descr="images/dash_selle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417320"/>
            <a:ext cx="2514600" cy="1161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960" y="26060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overview</a:t>
            </a:r>
            <a:endParaRPr lang="en-US" sz="1050" dirty="0"/>
          </a:p>
        </p:txBody>
      </p:sp>
      <p:pic>
        <p:nvPicPr>
          <p:cNvPr id="9" name="Image 2" descr="images/dash_customer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0" y="1417320"/>
            <a:ext cx="2514600" cy="1161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35440" y="26060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overview</a:t>
            </a:r>
            <a:endParaRPr lang="en-US" sz="1050" dirty="0"/>
          </a:p>
        </p:txBody>
      </p:sp>
      <p:pic>
        <p:nvPicPr>
          <p:cNvPr id="11" name="Image 3" descr="images/dash_payment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37960" y="3081528"/>
            <a:ext cx="2514600" cy="11612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37960" y="42702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overview</a:t>
            </a:r>
            <a:endParaRPr lang="en-US" sz="1050" dirty="0"/>
          </a:p>
        </p:txBody>
      </p:sp>
      <p:pic>
        <p:nvPicPr>
          <p:cNvPr id="13" name="Image 4" descr="images/dash_review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35440" y="3081528"/>
            <a:ext cx="2514600" cy="11612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35440" y="42702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overview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file: Brazil_Ecommerce_Analysis.pbix  |  Year slicers (2016–2018) and drill-through order detail on every page.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says, and what to do about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73152" cy="777240"/>
          </a:xfrm>
          <a:prstGeom prst="round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drives ~40% of total sales, creating regional concentration risk.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73152" cy="777240"/>
          </a:xfrm>
          <a:prstGeom prst="round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822960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drop sharply Sep–Dec — likely a dataset coverage gap, not a real demand decline.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703320"/>
            <a:ext cx="73152" cy="777240"/>
          </a:xfrm>
          <a:prstGeom prst="round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22960" y="37033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is 78% of payments; boleto usage stays steady year-round.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617720"/>
            <a:ext cx="73152" cy="777240"/>
          </a:xfrm>
          <a:prstGeom prst="roundRect">
            <a:avLst/>
          </a:prstGeom>
          <a:ln/>
        </p:spPr>
      </p:sp>
      <p:sp>
        <p:nvSpPr>
          <p:cNvPr id="16" name="Text 14"/>
          <p:cNvSpPr/>
          <p:nvPr/>
        </p:nvSpPr>
        <p:spPr>
          <a:xfrm>
            <a:off x="822960" y="46177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categories drive most revenue; a long tail of 60+ categories underperforms.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2098548"/>
            <a:ext cx="329184" cy="32918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098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18745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seller acquisition outside SP to reduce single-state dependency.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27889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3012948"/>
            <a:ext cx="329184" cy="32918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012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2788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Sep–Dec sales cliff before treating it as a seasonal trend.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37033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0" y="3927348"/>
            <a:ext cx="329184" cy="32918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37033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top 5 categories for inventory and marketing spend.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6177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4841748"/>
            <a:ext cx="329184" cy="32918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8417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46177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review-score analysis with delivery time to target complaint drivers.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AECE7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62356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note:  </a:t>
            </a:r>
            <a:pPr indent="0" marL="0">
              <a:buNone/>
            </a:pPr>
            <a:r>
              <a:rPr lang="en-US" sz="11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Late-2016 records are sparse in the source dataset — treat that period's dips as data-coverage gaps, not real demand trends.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620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204D"/>
          </a:solidFill>
          <a:ln w="9525">
            <a:solidFill>
              <a:srgbClr val="3C34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105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&amp; subqueries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(RANK, ROW_NUMBER, NTILE, LAG)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for reusable reporting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auditing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204D"/>
          </a:solidFill>
          <a:ln w="9525">
            <a:solidFill>
              <a:srgbClr val="3C34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8105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3317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&amp; customer segmentation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Cohort-style repeat-purchase analysis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attribution &amp; contribution %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Delivery-to-review correlation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21040" y="15544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204D"/>
          </a:solidFill>
          <a:ln w="9525">
            <a:solidFill>
              <a:srgbClr val="3C3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8105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delivery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0" y="23317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design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slicers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Insight-driven storytelling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SQL scripts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Olist Brazilian E-Commerce Public Dataset (Kaggle)  |  PostgreSQL 18 + Power BI  |  Tushar Ravindra Vaidya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any query or dashboard page in detail.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2026-07-09T18:40:59Z</dcterms:created>
  <dcterms:modified xsi:type="dcterms:W3CDTF">2026-07-09T18:40:59Z</dcterms:modified>
</cp:coreProperties>
</file>